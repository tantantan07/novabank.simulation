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elvetica World Bold" charset="1" panose="020B0800040000020004"/>
      <p:regular r:id="rId16"/>
    </p:embeddedFont>
    <p:embeddedFont>
      <p:font typeface="Canva Sans" charset="1" panose="020B0503030501040103"/>
      <p:regular r:id="rId17"/>
    </p:embeddedFont>
    <p:embeddedFont>
      <p:font typeface="Helvetica World" charset="1" panose="020B0500040000020004"/>
      <p:regular r:id="rId18"/>
    </p:embeddedFont>
    <p:embeddedFont>
      <p:font typeface="Canva Sans Bold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850185" y="1028700"/>
            <a:ext cx="3652820" cy="9258300"/>
          </a:xfrm>
          <a:custGeom>
            <a:avLst/>
            <a:gdLst/>
            <a:ahLst/>
            <a:cxnLst/>
            <a:rect r="r" b="b" t="t" l="l"/>
            <a:pathLst>
              <a:path h="9258300" w="3652820">
                <a:moveTo>
                  <a:pt x="3652820" y="0"/>
                </a:moveTo>
                <a:lnTo>
                  <a:pt x="0" y="0"/>
                </a:lnTo>
                <a:lnTo>
                  <a:pt x="0" y="9258300"/>
                </a:lnTo>
                <a:lnTo>
                  <a:pt x="3652820" y="9258300"/>
                </a:lnTo>
                <a:lnTo>
                  <a:pt x="365282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31045" y="857311"/>
            <a:ext cx="14666437" cy="8915522"/>
            <a:chOff x="0" y="0"/>
            <a:chExt cx="3542301" cy="21533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42301" cy="2153315"/>
            </a:xfrm>
            <a:custGeom>
              <a:avLst/>
              <a:gdLst/>
              <a:ahLst/>
              <a:cxnLst/>
              <a:rect r="r" b="b" t="t" l="l"/>
              <a:pathLst>
                <a:path h="2153315" w="3542301">
                  <a:moveTo>
                    <a:pt x="52787" y="0"/>
                  </a:moveTo>
                  <a:lnTo>
                    <a:pt x="3489514" y="0"/>
                  </a:lnTo>
                  <a:cubicBezTo>
                    <a:pt x="3518667" y="0"/>
                    <a:pt x="3542301" y="23633"/>
                    <a:pt x="3542301" y="52787"/>
                  </a:cubicBezTo>
                  <a:lnTo>
                    <a:pt x="3542301" y="2100529"/>
                  </a:lnTo>
                  <a:cubicBezTo>
                    <a:pt x="3542301" y="2129682"/>
                    <a:pt x="3518667" y="2153315"/>
                    <a:pt x="3489514" y="2153315"/>
                  </a:cubicBezTo>
                  <a:lnTo>
                    <a:pt x="52787" y="2153315"/>
                  </a:lnTo>
                  <a:cubicBezTo>
                    <a:pt x="38787" y="2153315"/>
                    <a:pt x="25360" y="2147754"/>
                    <a:pt x="15461" y="2137854"/>
                  </a:cubicBezTo>
                  <a:cubicBezTo>
                    <a:pt x="5561" y="2127955"/>
                    <a:pt x="0" y="2114528"/>
                    <a:pt x="0" y="2100529"/>
                  </a:cubicBezTo>
                  <a:lnTo>
                    <a:pt x="0" y="52787"/>
                  </a:lnTo>
                  <a:cubicBezTo>
                    <a:pt x="0" y="23633"/>
                    <a:pt x="23633" y="0"/>
                    <a:pt x="52787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542301" cy="2210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31045" y="2827567"/>
            <a:ext cx="12682904" cy="5584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386"/>
              </a:lnSpc>
            </a:pPr>
            <a:r>
              <a:rPr lang="en-US" b="true" sz="15678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BANK ACCOUNT SIMULATION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6411057" y="2686290"/>
            <a:ext cx="11876935" cy="20773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316230" y="1233414"/>
            <a:ext cx="1260945" cy="1260945"/>
          </a:xfrm>
          <a:custGeom>
            <a:avLst/>
            <a:gdLst/>
            <a:ahLst/>
            <a:cxnLst/>
            <a:rect r="r" b="b" t="t" l="l"/>
            <a:pathLst>
              <a:path h="1260945" w="1260945">
                <a:moveTo>
                  <a:pt x="0" y="0"/>
                </a:moveTo>
                <a:lnTo>
                  <a:pt x="1260945" y="0"/>
                </a:lnTo>
                <a:lnTo>
                  <a:pt x="1260945" y="1260944"/>
                </a:lnTo>
                <a:lnTo>
                  <a:pt x="0" y="1260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125471" y="8390974"/>
            <a:ext cx="3451705" cy="104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60"/>
              </a:lnSpc>
            </a:pPr>
            <a:r>
              <a:rPr lang="en-US" sz="30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BTECH CSE-CSF DIV-13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6425" y="7744230"/>
            <a:ext cx="4584619" cy="1796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1899" spc="1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Sarvadnya 1262250138</a:t>
            </a:r>
          </a:p>
          <a:p>
            <a:pPr algn="l">
              <a:lnSpc>
                <a:spcPts val="2906"/>
              </a:lnSpc>
            </a:pPr>
            <a:r>
              <a:rPr lang="en-US" sz="1899" spc="1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Saksham 1262253381</a:t>
            </a:r>
          </a:p>
          <a:p>
            <a:pPr algn="l">
              <a:lnSpc>
                <a:spcPts val="2906"/>
              </a:lnSpc>
            </a:pPr>
            <a:r>
              <a:rPr lang="en-US" sz="1899" spc="1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Soham 1262252642</a:t>
            </a:r>
          </a:p>
          <a:p>
            <a:pPr algn="l">
              <a:lnSpc>
                <a:spcPts val="2906"/>
              </a:lnSpc>
            </a:pPr>
            <a:r>
              <a:rPr lang="en-US" sz="1899" spc="1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Tanishka 1262253274</a:t>
            </a:r>
          </a:p>
          <a:p>
            <a:pPr algn="l">
              <a:lnSpc>
                <a:spcPts val="2906"/>
              </a:lnSpc>
            </a:pPr>
            <a:r>
              <a:rPr lang="en-US" sz="1899" spc="1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Pournami 1262252045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17751851" y="0"/>
            <a:ext cx="0" cy="11876953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92417" y="978134"/>
            <a:ext cx="20072834" cy="9308866"/>
            <a:chOff x="0" y="0"/>
            <a:chExt cx="4848077" cy="2248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8077" cy="2248317"/>
            </a:xfrm>
            <a:custGeom>
              <a:avLst/>
              <a:gdLst/>
              <a:ahLst/>
              <a:cxnLst/>
              <a:rect r="r" b="b" t="t" l="l"/>
              <a:pathLst>
                <a:path h="2248317" w="4848077">
                  <a:moveTo>
                    <a:pt x="38569" y="0"/>
                  </a:moveTo>
                  <a:lnTo>
                    <a:pt x="4809508" y="0"/>
                  </a:lnTo>
                  <a:cubicBezTo>
                    <a:pt x="4830809" y="0"/>
                    <a:pt x="4848077" y="17268"/>
                    <a:pt x="4848077" y="38569"/>
                  </a:cubicBezTo>
                  <a:lnTo>
                    <a:pt x="4848077" y="2209748"/>
                  </a:lnTo>
                  <a:cubicBezTo>
                    <a:pt x="4848077" y="2219977"/>
                    <a:pt x="4844014" y="2229788"/>
                    <a:pt x="4836781" y="2237021"/>
                  </a:cubicBezTo>
                  <a:cubicBezTo>
                    <a:pt x="4829547" y="2244254"/>
                    <a:pt x="4819737" y="2248317"/>
                    <a:pt x="4809508" y="2248317"/>
                  </a:cubicBezTo>
                  <a:lnTo>
                    <a:pt x="38569" y="2248317"/>
                  </a:lnTo>
                  <a:cubicBezTo>
                    <a:pt x="28340" y="2248317"/>
                    <a:pt x="18530" y="2244254"/>
                    <a:pt x="11297" y="2237021"/>
                  </a:cubicBezTo>
                  <a:cubicBezTo>
                    <a:pt x="4064" y="2229788"/>
                    <a:pt x="0" y="2219977"/>
                    <a:pt x="0" y="2209748"/>
                  </a:cubicBezTo>
                  <a:lnTo>
                    <a:pt x="0" y="38569"/>
                  </a:lnTo>
                  <a:cubicBezTo>
                    <a:pt x="0" y="17268"/>
                    <a:pt x="17268" y="0"/>
                    <a:pt x="38569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48077" cy="230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387090" y="3914576"/>
            <a:ext cx="1906218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246844" y="1344664"/>
            <a:ext cx="2012456" cy="2262001"/>
          </a:xfrm>
          <a:custGeom>
            <a:avLst/>
            <a:gdLst/>
            <a:ahLst/>
            <a:cxnLst/>
            <a:rect r="r" b="b" t="t" l="l"/>
            <a:pathLst>
              <a:path h="2262001" w="2012456">
                <a:moveTo>
                  <a:pt x="0" y="0"/>
                </a:moveTo>
                <a:lnTo>
                  <a:pt x="2012456" y="0"/>
                </a:lnTo>
                <a:lnTo>
                  <a:pt x="2012456" y="2262001"/>
                </a:lnTo>
                <a:lnTo>
                  <a:pt x="0" y="2262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774180" y="9903812"/>
            <a:ext cx="1906218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31185" y="4083551"/>
            <a:ext cx="16863730" cy="5651285"/>
          </a:xfrm>
          <a:custGeom>
            <a:avLst/>
            <a:gdLst/>
            <a:ahLst/>
            <a:cxnLst/>
            <a:rect r="r" b="b" t="t" l="l"/>
            <a:pathLst>
              <a:path h="5651285" w="16863730">
                <a:moveTo>
                  <a:pt x="0" y="0"/>
                </a:moveTo>
                <a:lnTo>
                  <a:pt x="16863730" y="0"/>
                </a:lnTo>
                <a:lnTo>
                  <a:pt x="16863730" y="5651285"/>
                </a:lnTo>
                <a:lnTo>
                  <a:pt x="0" y="56512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0179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2350" y="1606667"/>
            <a:ext cx="1265435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OVERVIEW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17924"/>
            <a:ext cx="18288000" cy="2922651"/>
            <a:chOff x="0" y="0"/>
            <a:chExt cx="4416996" cy="705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6996" cy="705891"/>
            </a:xfrm>
            <a:custGeom>
              <a:avLst/>
              <a:gdLst/>
              <a:ahLst/>
              <a:cxnLst/>
              <a:rect r="r" b="b" t="t" l="l"/>
              <a:pathLst>
                <a:path h="705891" w="4416996">
                  <a:moveTo>
                    <a:pt x="42333" y="0"/>
                  </a:moveTo>
                  <a:lnTo>
                    <a:pt x="4374663" y="0"/>
                  </a:lnTo>
                  <a:cubicBezTo>
                    <a:pt x="4385890" y="0"/>
                    <a:pt x="4396658" y="4460"/>
                    <a:pt x="4404597" y="12399"/>
                  </a:cubicBezTo>
                  <a:cubicBezTo>
                    <a:pt x="4412536" y="20338"/>
                    <a:pt x="4416996" y="31106"/>
                    <a:pt x="4416996" y="42333"/>
                  </a:cubicBezTo>
                  <a:lnTo>
                    <a:pt x="4416996" y="663558"/>
                  </a:lnTo>
                  <a:cubicBezTo>
                    <a:pt x="4416996" y="674785"/>
                    <a:pt x="4412536" y="685553"/>
                    <a:pt x="4404597" y="693492"/>
                  </a:cubicBezTo>
                  <a:cubicBezTo>
                    <a:pt x="4396658" y="701431"/>
                    <a:pt x="4385890" y="705891"/>
                    <a:pt x="4374663" y="705891"/>
                  </a:cubicBezTo>
                  <a:lnTo>
                    <a:pt x="42333" y="705891"/>
                  </a:lnTo>
                  <a:cubicBezTo>
                    <a:pt x="31106" y="705891"/>
                    <a:pt x="20338" y="701431"/>
                    <a:pt x="12399" y="693492"/>
                  </a:cubicBezTo>
                  <a:cubicBezTo>
                    <a:pt x="4460" y="685553"/>
                    <a:pt x="0" y="674785"/>
                    <a:pt x="0" y="66355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16996" cy="76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796519" y="9521765"/>
            <a:ext cx="1906218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1489091"/>
            <a:ext cx="14721118" cy="847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6"/>
              </a:lnSpc>
            </a:pPr>
            <a:r>
              <a:rPr lang="en-US" sz="67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SHA-256 PIN HASHING WITH SALT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446809" y="393607"/>
            <a:ext cx="2465555" cy="2771284"/>
          </a:xfrm>
          <a:custGeom>
            <a:avLst/>
            <a:gdLst/>
            <a:ahLst/>
            <a:cxnLst/>
            <a:rect r="r" b="b" t="t" l="l"/>
            <a:pathLst>
              <a:path h="2771284" w="2465555">
                <a:moveTo>
                  <a:pt x="0" y="0"/>
                </a:moveTo>
                <a:lnTo>
                  <a:pt x="2465556" y="0"/>
                </a:lnTo>
                <a:lnTo>
                  <a:pt x="2465556" y="2771284"/>
                </a:lnTo>
                <a:lnTo>
                  <a:pt x="0" y="2771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77934" y="3565116"/>
            <a:ext cx="6201653" cy="5294661"/>
          </a:xfrm>
          <a:custGeom>
            <a:avLst/>
            <a:gdLst/>
            <a:ahLst/>
            <a:cxnLst/>
            <a:rect r="r" b="b" t="t" l="l"/>
            <a:pathLst>
              <a:path h="5294661" w="6201653">
                <a:moveTo>
                  <a:pt x="0" y="0"/>
                </a:moveTo>
                <a:lnTo>
                  <a:pt x="6201653" y="0"/>
                </a:lnTo>
                <a:lnTo>
                  <a:pt x="6201653" y="5294661"/>
                </a:lnTo>
                <a:lnTo>
                  <a:pt x="0" y="5294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3859700"/>
            <a:ext cx="7705871" cy="7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0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PASSWORD</a:t>
            </a:r>
            <a:r>
              <a:rPr lang="en-US" sz="20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 ARE NEVER STORED IN PLAIN TEXT — ONLY A CRYPTOGRAPHIC HASH IS SAVED.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813483"/>
            <a:ext cx="770587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PIN is never stored directly — only its SHA-256 hash is written to disk.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933193"/>
            <a:ext cx="770587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unique 16-byte random salt is generated per account, preventing rainbow table attacks.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056508"/>
            <a:ext cx="7705871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login, the entered PIN is re-hashed and compared using memcmp — constant-time safe. Used by real systems — bcrypt, Argon2, and PBKDF2 follow this same salt+hash principle.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17924"/>
            <a:ext cx="18288000" cy="2922651"/>
            <a:chOff x="0" y="0"/>
            <a:chExt cx="4416996" cy="705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6996" cy="705891"/>
            </a:xfrm>
            <a:custGeom>
              <a:avLst/>
              <a:gdLst/>
              <a:ahLst/>
              <a:cxnLst/>
              <a:rect r="r" b="b" t="t" l="l"/>
              <a:pathLst>
                <a:path h="705891" w="4416996">
                  <a:moveTo>
                    <a:pt x="42333" y="0"/>
                  </a:moveTo>
                  <a:lnTo>
                    <a:pt x="4374663" y="0"/>
                  </a:lnTo>
                  <a:cubicBezTo>
                    <a:pt x="4385890" y="0"/>
                    <a:pt x="4396658" y="4460"/>
                    <a:pt x="4404597" y="12399"/>
                  </a:cubicBezTo>
                  <a:cubicBezTo>
                    <a:pt x="4412536" y="20338"/>
                    <a:pt x="4416996" y="31106"/>
                    <a:pt x="4416996" y="42333"/>
                  </a:cubicBezTo>
                  <a:lnTo>
                    <a:pt x="4416996" y="663558"/>
                  </a:lnTo>
                  <a:cubicBezTo>
                    <a:pt x="4416996" y="674785"/>
                    <a:pt x="4412536" y="685553"/>
                    <a:pt x="4404597" y="693492"/>
                  </a:cubicBezTo>
                  <a:cubicBezTo>
                    <a:pt x="4396658" y="701431"/>
                    <a:pt x="4385890" y="705891"/>
                    <a:pt x="4374663" y="705891"/>
                  </a:cubicBezTo>
                  <a:lnTo>
                    <a:pt x="42333" y="705891"/>
                  </a:lnTo>
                  <a:cubicBezTo>
                    <a:pt x="31106" y="705891"/>
                    <a:pt x="20338" y="701431"/>
                    <a:pt x="12399" y="693492"/>
                  </a:cubicBezTo>
                  <a:cubicBezTo>
                    <a:pt x="4460" y="685553"/>
                    <a:pt x="0" y="674785"/>
                    <a:pt x="0" y="66355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16996" cy="76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796519" y="9521765"/>
            <a:ext cx="1906218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1110949"/>
            <a:ext cx="14721118" cy="160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6"/>
              </a:lnSpc>
            </a:pPr>
            <a:r>
              <a:rPr lang="en-US" sz="67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CRYPTOGRAPHICALLY SECURE RANDOM NUMBERS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144000" y="3426589"/>
            <a:ext cx="8911882" cy="5378075"/>
          </a:xfrm>
          <a:custGeom>
            <a:avLst/>
            <a:gdLst/>
            <a:ahLst/>
            <a:cxnLst/>
            <a:rect r="r" b="b" t="t" l="l"/>
            <a:pathLst>
              <a:path h="5378075" w="8911882">
                <a:moveTo>
                  <a:pt x="0" y="0"/>
                </a:moveTo>
                <a:lnTo>
                  <a:pt x="8911882" y="0"/>
                </a:lnTo>
                <a:lnTo>
                  <a:pt x="8911882" y="5378074"/>
                </a:lnTo>
                <a:lnTo>
                  <a:pt x="0" y="5378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515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859700"/>
            <a:ext cx="7705871" cy="7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0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ACCOUNT AND CARD NUMBER</a:t>
            </a:r>
            <a:r>
              <a:rPr lang="en-US" sz="20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 ARE GENERATED USING OPENSSL'S RAND_BYTES — NOT PREDICTABLE RAND().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813483"/>
            <a:ext cx="770587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rand() is seeded and predictable. RAND_bytes() draws from the OS entropy pool.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933193"/>
            <a:ext cx="770587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 bytes of raw randomness are used to construct n-digit numbers with guaranteed range.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056508"/>
            <a:ext cx="7705871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Same RAND_bytes call generates the 16-byte salt for each account at creation.  RAND_bytes is the same function used in SSL/TLS key generation.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446809" y="393607"/>
            <a:ext cx="2465555" cy="2771284"/>
          </a:xfrm>
          <a:custGeom>
            <a:avLst/>
            <a:gdLst/>
            <a:ahLst/>
            <a:cxnLst/>
            <a:rect r="r" b="b" t="t" l="l"/>
            <a:pathLst>
              <a:path h="2771284" w="2465555">
                <a:moveTo>
                  <a:pt x="0" y="0"/>
                </a:moveTo>
                <a:lnTo>
                  <a:pt x="2465556" y="0"/>
                </a:lnTo>
                <a:lnTo>
                  <a:pt x="2465556" y="2771284"/>
                </a:lnTo>
                <a:lnTo>
                  <a:pt x="0" y="2771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17924"/>
            <a:ext cx="18288000" cy="2922651"/>
            <a:chOff x="0" y="0"/>
            <a:chExt cx="4416996" cy="705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6996" cy="705891"/>
            </a:xfrm>
            <a:custGeom>
              <a:avLst/>
              <a:gdLst/>
              <a:ahLst/>
              <a:cxnLst/>
              <a:rect r="r" b="b" t="t" l="l"/>
              <a:pathLst>
                <a:path h="705891" w="4416996">
                  <a:moveTo>
                    <a:pt x="42333" y="0"/>
                  </a:moveTo>
                  <a:lnTo>
                    <a:pt x="4374663" y="0"/>
                  </a:lnTo>
                  <a:cubicBezTo>
                    <a:pt x="4385890" y="0"/>
                    <a:pt x="4396658" y="4460"/>
                    <a:pt x="4404597" y="12399"/>
                  </a:cubicBezTo>
                  <a:cubicBezTo>
                    <a:pt x="4412536" y="20338"/>
                    <a:pt x="4416996" y="31106"/>
                    <a:pt x="4416996" y="42333"/>
                  </a:cubicBezTo>
                  <a:lnTo>
                    <a:pt x="4416996" y="663558"/>
                  </a:lnTo>
                  <a:cubicBezTo>
                    <a:pt x="4416996" y="674785"/>
                    <a:pt x="4412536" y="685553"/>
                    <a:pt x="4404597" y="693492"/>
                  </a:cubicBezTo>
                  <a:cubicBezTo>
                    <a:pt x="4396658" y="701431"/>
                    <a:pt x="4385890" y="705891"/>
                    <a:pt x="4374663" y="705891"/>
                  </a:cubicBezTo>
                  <a:lnTo>
                    <a:pt x="42333" y="705891"/>
                  </a:lnTo>
                  <a:cubicBezTo>
                    <a:pt x="31106" y="705891"/>
                    <a:pt x="20338" y="701431"/>
                    <a:pt x="12399" y="693492"/>
                  </a:cubicBezTo>
                  <a:cubicBezTo>
                    <a:pt x="4460" y="685553"/>
                    <a:pt x="0" y="674785"/>
                    <a:pt x="0" y="66355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16996" cy="76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796519" y="9521765"/>
            <a:ext cx="1906218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1489091"/>
            <a:ext cx="14721118" cy="847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6"/>
              </a:lnSpc>
            </a:pPr>
            <a:r>
              <a:rPr lang="en-US" sz="67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PERSISTENT ACCOUNT LOCKOUT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967113" y="3328189"/>
            <a:ext cx="9086052" cy="6101199"/>
          </a:xfrm>
          <a:custGeom>
            <a:avLst/>
            <a:gdLst/>
            <a:ahLst/>
            <a:cxnLst/>
            <a:rect r="r" b="b" t="t" l="l"/>
            <a:pathLst>
              <a:path h="6101199" w="9086052">
                <a:moveTo>
                  <a:pt x="0" y="0"/>
                </a:moveTo>
                <a:lnTo>
                  <a:pt x="9086052" y="0"/>
                </a:lnTo>
                <a:lnTo>
                  <a:pt x="9086052" y="6101199"/>
                </a:lnTo>
                <a:lnTo>
                  <a:pt x="0" y="6101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297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859700"/>
            <a:ext cx="7705871" cy="7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0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AFTER 3 FAILED PIN ATTEMPTS, ACCOUNT</a:t>
            </a:r>
            <a:r>
              <a:rPr lang="en-US" sz="20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 ARE LOCKED AND SAVED TO DISK — RESTART WON'T UNLOCK THEM.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813483"/>
            <a:ext cx="770587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3-attempt counter prevents brute-force PIN guessing at runtime.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933193"/>
            <a:ext cx="770587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failure, locked = 1 is set and save() is called immediately — the lock persists on disk.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056508"/>
            <a:ext cx="7705871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every login attempt, the lock flag is checked before the PIN prompt ever appears.  Real banks lock cards after 3 wrong PIN attempts — this replicates that exact behaviour.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446809" y="393607"/>
            <a:ext cx="2465555" cy="2771284"/>
          </a:xfrm>
          <a:custGeom>
            <a:avLst/>
            <a:gdLst/>
            <a:ahLst/>
            <a:cxnLst/>
            <a:rect r="r" b="b" t="t" l="l"/>
            <a:pathLst>
              <a:path h="2771284" w="2465555">
                <a:moveTo>
                  <a:pt x="0" y="0"/>
                </a:moveTo>
                <a:lnTo>
                  <a:pt x="2465556" y="0"/>
                </a:lnTo>
                <a:lnTo>
                  <a:pt x="2465556" y="2771284"/>
                </a:lnTo>
                <a:lnTo>
                  <a:pt x="0" y="2771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17924"/>
            <a:ext cx="18288000" cy="2922651"/>
            <a:chOff x="0" y="0"/>
            <a:chExt cx="4416996" cy="705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6996" cy="705891"/>
            </a:xfrm>
            <a:custGeom>
              <a:avLst/>
              <a:gdLst/>
              <a:ahLst/>
              <a:cxnLst/>
              <a:rect r="r" b="b" t="t" l="l"/>
              <a:pathLst>
                <a:path h="705891" w="4416996">
                  <a:moveTo>
                    <a:pt x="42333" y="0"/>
                  </a:moveTo>
                  <a:lnTo>
                    <a:pt x="4374663" y="0"/>
                  </a:lnTo>
                  <a:cubicBezTo>
                    <a:pt x="4385890" y="0"/>
                    <a:pt x="4396658" y="4460"/>
                    <a:pt x="4404597" y="12399"/>
                  </a:cubicBezTo>
                  <a:cubicBezTo>
                    <a:pt x="4412536" y="20338"/>
                    <a:pt x="4416996" y="31106"/>
                    <a:pt x="4416996" y="42333"/>
                  </a:cubicBezTo>
                  <a:lnTo>
                    <a:pt x="4416996" y="663558"/>
                  </a:lnTo>
                  <a:cubicBezTo>
                    <a:pt x="4416996" y="674785"/>
                    <a:pt x="4412536" y="685553"/>
                    <a:pt x="4404597" y="693492"/>
                  </a:cubicBezTo>
                  <a:cubicBezTo>
                    <a:pt x="4396658" y="701431"/>
                    <a:pt x="4385890" y="705891"/>
                    <a:pt x="4374663" y="705891"/>
                  </a:cubicBezTo>
                  <a:lnTo>
                    <a:pt x="42333" y="705891"/>
                  </a:lnTo>
                  <a:cubicBezTo>
                    <a:pt x="31106" y="705891"/>
                    <a:pt x="20338" y="701431"/>
                    <a:pt x="12399" y="693492"/>
                  </a:cubicBezTo>
                  <a:cubicBezTo>
                    <a:pt x="4460" y="685553"/>
                    <a:pt x="0" y="674785"/>
                    <a:pt x="0" y="66355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16996" cy="76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796519" y="9521765"/>
            <a:ext cx="1906218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1110949"/>
            <a:ext cx="14721118" cy="160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6"/>
              </a:lnSpc>
            </a:pPr>
            <a:r>
              <a:rPr lang="en-US" sz="67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TIERED AUTOMATIC MONTHLY INTEREST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022843" y="3544382"/>
            <a:ext cx="8711403" cy="5668813"/>
          </a:xfrm>
          <a:custGeom>
            <a:avLst/>
            <a:gdLst/>
            <a:ahLst/>
            <a:cxnLst/>
            <a:rect r="r" b="b" t="t" l="l"/>
            <a:pathLst>
              <a:path h="5668813" w="8711403">
                <a:moveTo>
                  <a:pt x="0" y="0"/>
                </a:moveTo>
                <a:lnTo>
                  <a:pt x="8711403" y="0"/>
                </a:lnTo>
                <a:lnTo>
                  <a:pt x="8711403" y="5668813"/>
                </a:lnTo>
                <a:lnTo>
                  <a:pt x="0" y="5668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356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445259"/>
            <a:ext cx="7705871" cy="116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0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INTEREST IS CALCULATED ON LOGIN U</a:t>
            </a:r>
            <a:r>
              <a:rPr lang="en-US" sz="20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SING TIME.H — TIERED BY BALANCE, JUST LIKE A REAL SAVINGS ACCOUNT.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813483"/>
            <a:ext cx="770587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difftime() checks if 30 days have elapsed since lastInterest was saved to the account.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933193"/>
            <a:ext cx="770587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Three tiers: 1% under ₹10K, 2% from ₹10K–₹50K, 3% above ₹50K.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056508"/>
            <a:ext cx="7705871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Interest is logged as a transaction and the timestamp is updated immediately. Uses POSIX time_t — no external libraries needed beyond standard time.h.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446809" y="393607"/>
            <a:ext cx="2465555" cy="2771284"/>
          </a:xfrm>
          <a:custGeom>
            <a:avLst/>
            <a:gdLst/>
            <a:ahLst/>
            <a:cxnLst/>
            <a:rect r="r" b="b" t="t" l="l"/>
            <a:pathLst>
              <a:path h="2771284" w="2465555">
                <a:moveTo>
                  <a:pt x="0" y="0"/>
                </a:moveTo>
                <a:lnTo>
                  <a:pt x="2465556" y="0"/>
                </a:lnTo>
                <a:lnTo>
                  <a:pt x="2465556" y="2771284"/>
                </a:lnTo>
                <a:lnTo>
                  <a:pt x="0" y="2771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17924"/>
            <a:ext cx="18288000" cy="2922651"/>
            <a:chOff x="0" y="0"/>
            <a:chExt cx="4416996" cy="705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6996" cy="705891"/>
            </a:xfrm>
            <a:custGeom>
              <a:avLst/>
              <a:gdLst/>
              <a:ahLst/>
              <a:cxnLst/>
              <a:rect r="r" b="b" t="t" l="l"/>
              <a:pathLst>
                <a:path h="705891" w="4416996">
                  <a:moveTo>
                    <a:pt x="42333" y="0"/>
                  </a:moveTo>
                  <a:lnTo>
                    <a:pt x="4374663" y="0"/>
                  </a:lnTo>
                  <a:cubicBezTo>
                    <a:pt x="4385890" y="0"/>
                    <a:pt x="4396658" y="4460"/>
                    <a:pt x="4404597" y="12399"/>
                  </a:cubicBezTo>
                  <a:cubicBezTo>
                    <a:pt x="4412536" y="20338"/>
                    <a:pt x="4416996" y="31106"/>
                    <a:pt x="4416996" y="42333"/>
                  </a:cubicBezTo>
                  <a:lnTo>
                    <a:pt x="4416996" y="663558"/>
                  </a:lnTo>
                  <a:cubicBezTo>
                    <a:pt x="4416996" y="674785"/>
                    <a:pt x="4412536" y="685553"/>
                    <a:pt x="4404597" y="693492"/>
                  </a:cubicBezTo>
                  <a:cubicBezTo>
                    <a:pt x="4396658" y="701431"/>
                    <a:pt x="4385890" y="705891"/>
                    <a:pt x="4374663" y="705891"/>
                  </a:cubicBezTo>
                  <a:lnTo>
                    <a:pt x="42333" y="705891"/>
                  </a:lnTo>
                  <a:cubicBezTo>
                    <a:pt x="31106" y="705891"/>
                    <a:pt x="20338" y="701431"/>
                    <a:pt x="12399" y="693492"/>
                  </a:cubicBezTo>
                  <a:cubicBezTo>
                    <a:pt x="4460" y="685553"/>
                    <a:pt x="0" y="674785"/>
                    <a:pt x="0" y="66355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16996" cy="76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796519" y="9521765"/>
            <a:ext cx="1906218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1489091"/>
            <a:ext cx="14721118" cy="847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6"/>
              </a:lnSpc>
            </a:pPr>
            <a:r>
              <a:rPr lang="en-US" sz="67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BINARY FILE PERSISTENCE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144000" y="3473420"/>
            <a:ext cx="7821416" cy="5784880"/>
          </a:xfrm>
          <a:custGeom>
            <a:avLst/>
            <a:gdLst/>
            <a:ahLst/>
            <a:cxnLst/>
            <a:rect r="r" b="b" t="t" l="l"/>
            <a:pathLst>
              <a:path h="5784880" w="7821416">
                <a:moveTo>
                  <a:pt x="0" y="0"/>
                </a:moveTo>
                <a:lnTo>
                  <a:pt x="7821416" y="0"/>
                </a:lnTo>
                <a:lnTo>
                  <a:pt x="7821416" y="5784880"/>
                </a:lnTo>
                <a:lnTo>
                  <a:pt x="0" y="5784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14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445259"/>
            <a:ext cx="7705871" cy="7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0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ENTIRE BANK STATE IS SERIALIZED TO DISK IN ~10 LINES U</a:t>
            </a:r>
            <a:r>
              <a:rPr lang="en-US" sz="20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SING C'S DIRECT MEMORY I/O.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813483"/>
            <a:ext cx="770587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fwrite() writes the struct array directly as raw bytes — no serialization overhead.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933193"/>
            <a:ext cx="770587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fread() reloads the exact same memory layout on startup, restoring all accounts.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056508"/>
            <a:ext cx="7705871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Binary format is compact and fast; no CSV parsing or JSON libraries needed.  This is how embedded systems and game save files work — raw binary I/O.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446809" y="393607"/>
            <a:ext cx="2465555" cy="2771284"/>
          </a:xfrm>
          <a:custGeom>
            <a:avLst/>
            <a:gdLst/>
            <a:ahLst/>
            <a:cxnLst/>
            <a:rect r="r" b="b" t="t" l="l"/>
            <a:pathLst>
              <a:path h="2771284" w="2465555">
                <a:moveTo>
                  <a:pt x="0" y="0"/>
                </a:moveTo>
                <a:lnTo>
                  <a:pt x="2465556" y="0"/>
                </a:lnTo>
                <a:lnTo>
                  <a:pt x="2465556" y="2771284"/>
                </a:lnTo>
                <a:lnTo>
                  <a:pt x="0" y="2771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92417" y="978134"/>
            <a:ext cx="20072834" cy="9308866"/>
            <a:chOff x="0" y="0"/>
            <a:chExt cx="4848077" cy="2248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8077" cy="2248317"/>
            </a:xfrm>
            <a:custGeom>
              <a:avLst/>
              <a:gdLst/>
              <a:ahLst/>
              <a:cxnLst/>
              <a:rect r="r" b="b" t="t" l="l"/>
              <a:pathLst>
                <a:path h="2248317" w="4848077">
                  <a:moveTo>
                    <a:pt x="38569" y="0"/>
                  </a:moveTo>
                  <a:lnTo>
                    <a:pt x="4809508" y="0"/>
                  </a:lnTo>
                  <a:cubicBezTo>
                    <a:pt x="4830809" y="0"/>
                    <a:pt x="4848077" y="17268"/>
                    <a:pt x="4848077" y="38569"/>
                  </a:cubicBezTo>
                  <a:lnTo>
                    <a:pt x="4848077" y="2209748"/>
                  </a:lnTo>
                  <a:cubicBezTo>
                    <a:pt x="4848077" y="2219977"/>
                    <a:pt x="4844014" y="2229788"/>
                    <a:pt x="4836781" y="2237021"/>
                  </a:cubicBezTo>
                  <a:cubicBezTo>
                    <a:pt x="4829547" y="2244254"/>
                    <a:pt x="4819737" y="2248317"/>
                    <a:pt x="4809508" y="2248317"/>
                  </a:cubicBezTo>
                  <a:lnTo>
                    <a:pt x="38569" y="2248317"/>
                  </a:lnTo>
                  <a:cubicBezTo>
                    <a:pt x="28340" y="2248317"/>
                    <a:pt x="18530" y="2244254"/>
                    <a:pt x="11297" y="2237021"/>
                  </a:cubicBezTo>
                  <a:cubicBezTo>
                    <a:pt x="4064" y="2229788"/>
                    <a:pt x="0" y="2219977"/>
                    <a:pt x="0" y="2209748"/>
                  </a:cubicBezTo>
                  <a:lnTo>
                    <a:pt x="0" y="38569"/>
                  </a:lnTo>
                  <a:cubicBezTo>
                    <a:pt x="0" y="17268"/>
                    <a:pt x="17268" y="0"/>
                    <a:pt x="38569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48077" cy="230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387090" y="3914576"/>
            <a:ext cx="1906218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246844" y="1344664"/>
            <a:ext cx="2012456" cy="2262001"/>
          </a:xfrm>
          <a:custGeom>
            <a:avLst/>
            <a:gdLst/>
            <a:ahLst/>
            <a:cxnLst/>
            <a:rect r="r" b="b" t="t" l="l"/>
            <a:pathLst>
              <a:path h="2262001" w="2012456">
                <a:moveTo>
                  <a:pt x="0" y="0"/>
                </a:moveTo>
                <a:lnTo>
                  <a:pt x="2012456" y="0"/>
                </a:lnTo>
                <a:lnTo>
                  <a:pt x="2012456" y="2262001"/>
                </a:lnTo>
                <a:lnTo>
                  <a:pt x="0" y="2262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774180" y="9903812"/>
            <a:ext cx="1906218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4618925" y="4236110"/>
            <a:ext cx="9328031" cy="5346167"/>
          </a:xfrm>
          <a:custGeom>
            <a:avLst/>
            <a:gdLst/>
            <a:ahLst/>
            <a:cxnLst/>
            <a:rect r="r" b="b" t="t" l="l"/>
            <a:pathLst>
              <a:path h="5346167" w="9328031">
                <a:moveTo>
                  <a:pt x="0" y="0"/>
                </a:moveTo>
                <a:lnTo>
                  <a:pt x="9328031" y="0"/>
                </a:lnTo>
                <a:lnTo>
                  <a:pt x="9328031" y="5346167"/>
                </a:lnTo>
                <a:lnTo>
                  <a:pt x="0" y="53461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3510354" y="1477149"/>
            <a:ext cx="1265435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</a:t>
            </a:r>
          </a:p>
        </p:txBody>
      </p:sp>
    </p:spTree>
  </p:cSld>
  <p:clrMapOvr>
    <a:masterClrMapping/>
  </p:clrMapOvr>
  <p:transition spd="fast">
    <p:push dir="r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74180" y="978134"/>
            <a:ext cx="20072834" cy="9308866"/>
            <a:chOff x="0" y="0"/>
            <a:chExt cx="4848077" cy="2248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8077" cy="2248317"/>
            </a:xfrm>
            <a:custGeom>
              <a:avLst/>
              <a:gdLst/>
              <a:ahLst/>
              <a:cxnLst/>
              <a:rect r="r" b="b" t="t" l="l"/>
              <a:pathLst>
                <a:path h="2248317" w="4848077">
                  <a:moveTo>
                    <a:pt x="38569" y="0"/>
                  </a:moveTo>
                  <a:lnTo>
                    <a:pt x="4809508" y="0"/>
                  </a:lnTo>
                  <a:cubicBezTo>
                    <a:pt x="4830809" y="0"/>
                    <a:pt x="4848077" y="17268"/>
                    <a:pt x="4848077" y="38569"/>
                  </a:cubicBezTo>
                  <a:lnTo>
                    <a:pt x="4848077" y="2209748"/>
                  </a:lnTo>
                  <a:cubicBezTo>
                    <a:pt x="4848077" y="2219977"/>
                    <a:pt x="4844014" y="2229788"/>
                    <a:pt x="4836781" y="2237021"/>
                  </a:cubicBezTo>
                  <a:cubicBezTo>
                    <a:pt x="4829547" y="2244254"/>
                    <a:pt x="4819737" y="2248317"/>
                    <a:pt x="4809508" y="2248317"/>
                  </a:cubicBezTo>
                  <a:lnTo>
                    <a:pt x="38569" y="2248317"/>
                  </a:lnTo>
                  <a:cubicBezTo>
                    <a:pt x="28340" y="2248317"/>
                    <a:pt x="18530" y="2244254"/>
                    <a:pt x="11297" y="2237021"/>
                  </a:cubicBezTo>
                  <a:cubicBezTo>
                    <a:pt x="4064" y="2229788"/>
                    <a:pt x="0" y="2219977"/>
                    <a:pt x="0" y="2209748"/>
                  </a:cubicBezTo>
                  <a:lnTo>
                    <a:pt x="0" y="38569"/>
                  </a:lnTo>
                  <a:cubicBezTo>
                    <a:pt x="0" y="17268"/>
                    <a:pt x="17268" y="0"/>
                    <a:pt x="38569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48077" cy="230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387090" y="3327167"/>
            <a:ext cx="1906218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190478" y="1344664"/>
            <a:ext cx="1489531" cy="1674233"/>
          </a:xfrm>
          <a:custGeom>
            <a:avLst/>
            <a:gdLst/>
            <a:ahLst/>
            <a:cxnLst/>
            <a:rect r="r" b="b" t="t" l="l"/>
            <a:pathLst>
              <a:path h="1674233" w="1489531">
                <a:moveTo>
                  <a:pt x="0" y="0"/>
                </a:moveTo>
                <a:lnTo>
                  <a:pt x="1489531" y="0"/>
                </a:lnTo>
                <a:lnTo>
                  <a:pt x="1489531" y="1674233"/>
                </a:lnTo>
                <a:lnTo>
                  <a:pt x="0" y="1674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774180" y="9903812"/>
            <a:ext cx="1906218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97202" y="3914576"/>
            <a:ext cx="7245809" cy="5989236"/>
          </a:xfrm>
          <a:custGeom>
            <a:avLst/>
            <a:gdLst/>
            <a:ahLst/>
            <a:cxnLst/>
            <a:rect r="r" b="b" t="t" l="l"/>
            <a:pathLst>
              <a:path h="5989236" w="7245809">
                <a:moveTo>
                  <a:pt x="0" y="0"/>
                </a:moveTo>
                <a:lnTo>
                  <a:pt x="7245810" y="0"/>
                </a:lnTo>
                <a:lnTo>
                  <a:pt x="7245810" y="5989236"/>
                </a:lnTo>
                <a:lnTo>
                  <a:pt x="0" y="59892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3047" r="0" b="-219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15665" y="3914576"/>
            <a:ext cx="7143635" cy="5989236"/>
          </a:xfrm>
          <a:custGeom>
            <a:avLst/>
            <a:gdLst/>
            <a:ahLst/>
            <a:cxnLst/>
            <a:rect r="r" b="b" t="t" l="l"/>
            <a:pathLst>
              <a:path h="5989236" w="7143635">
                <a:moveTo>
                  <a:pt x="0" y="0"/>
                </a:moveTo>
                <a:lnTo>
                  <a:pt x="7143635" y="0"/>
                </a:lnTo>
                <a:lnTo>
                  <a:pt x="7143635" y="5989236"/>
                </a:lnTo>
                <a:lnTo>
                  <a:pt x="0" y="59892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147" b="-7475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3510354" y="1312783"/>
            <a:ext cx="1265435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46220" y="916263"/>
            <a:ext cx="3652820" cy="9258300"/>
          </a:xfrm>
          <a:custGeom>
            <a:avLst/>
            <a:gdLst/>
            <a:ahLst/>
            <a:cxnLst/>
            <a:rect r="r" b="b" t="t" l="l"/>
            <a:pathLst>
              <a:path h="9258300" w="3652820">
                <a:moveTo>
                  <a:pt x="0" y="0"/>
                </a:moveTo>
                <a:lnTo>
                  <a:pt x="3652821" y="0"/>
                </a:lnTo>
                <a:lnTo>
                  <a:pt x="3652821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768342" y="514350"/>
            <a:ext cx="14666437" cy="9258300"/>
            <a:chOff x="0" y="0"/>
            <a:chExt cx="3542301" cy="22361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42301" cy="2236104"/>
            </a:xfrm>
            <a:custGeom>
              <a:avLst/>
              <a:gdLst/>
              <a:ahLst/>
              <a:cxnLst/>
              <a:rect r="r" b="b" t="t" l="l"/>
              <a:pathLst>
                <a:path h="2236104" w="3542301">
                  <a:moveTo>
                    <a:pt x="52787" y="0"/>
                  </a:moveTo>
                  <a:lnTo>
                    <a:pt x="3489514" y="0"/>
                  </a:lnTo>
                  <a:cubicBezTo>
                    <a:pt x="3518667" y="0"/>
                    <a:pt x="3542301" y="23633"/>
                    <a:pt x="3542301" y="52787"/>
                  </a:cubicBezTo>
                  <a:lnTo>
                    <a:pt x="3542301" y="2183318"/>
                  </a:lnTo>
                  <a:cubicBezTo>
                    <a:pt x="3542301" y="2212471"/>
                    <a:pt x="3518667" y="2236104"/>
                    <a:pt x="3489514" y="2236104"/>
                  </a:cubicBezTo>
                  <a:lnTo>
                    <a:pt x="52787" y="2236104"/>
                  </a:lnTo>
                  <a:cubicBezTo>
                    <a:pt x="23633" y="2236104"/>
                    <a:pt x="0" y="2212471"/>
                    <a:pt x="0" y="2183318"/>
                  </a:cubicBezTo>
                  <a:lnTo>
                    <a:pt x="0" y="52787"/>
                  </a:lnTo>
                  <a:cubicBezTo>
                    <a:pt x="0" y="23633"/>
                    <a:pt x="23633" y="0"/>
                    <a:pt x="52787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542301" cy="2293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724418" y="2376059"/>
            <a:ext cx="5534882" cy="5534882"/>
          </a:xfrm>
          <a:custGeom>
            <a:avLst/>
            <a:gdLst/>
            <a:ahLst/>
            <a:cxnLst/>
            <a:rect r="r" b="b" t="t" l="l"/>
            <a:pathLst>
              <a:path h="5534882" w="5534882">
                <a:moveTo>
                  <a:pt x="0" y="0"/>
                </a:moveTo>
                <a:lnTo>
                  <a:pt x="5534882" y="0"/>
                </a:lnTo>
                <a:lnTo>
                  <a:pt x="5534882" y="5534882"/>
                </a:lnTo>
                <a:lnTo>
                  <a:pt x="0" y="5534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83230" y="1602063"/>
            <a:ext cx="8889400" cy="3830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16"/>
              </a:lnSpc>
            </a:pPr>
            <a:r>
              <a:rPr lang="en-US" sz="16337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89958" y="8502853"/>
            <a:ext cx="6603802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66CF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Scan this to access our GitHub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DAHGeuI8Y2c</dc:identifier>
  <dcterms:modified xsi:type="dcterms:W3CDTF">2011-08-01T06:04:30Z</dcterms:modified>
  <cp:revision>1</cp:revision>
  <dc:title>BANK ACCOUNT SIMULATION</dc:title>
</cp:coreProperties>
</file>